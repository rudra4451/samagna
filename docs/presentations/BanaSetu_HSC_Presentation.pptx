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_img_0_Image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920240" cy="954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347472"/>
            <a:ext cx="7132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23456D"/>
                </a:solidFill>
              </a:defRPr>
            </a:pPr>
            <a:r>
              <a:t>Cover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9494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spcAft>
                <a:spcPts val="200"/>
              </a:spcAft>
              <a:defRPr b="1" sz="1400">
                <a:solidFill>
                  <a:srgbClr val="23456D"/>
                </a:solidFill>
              </a:defRPr>
            </a:pPr>
            <a:r>
              <a:t>•  Problem Statement/Concept Title</a:t>
            </a:r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    Samagna · BanaSetu (ସମଗ୍ନ)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 Minor Forest Produce Custody Ledger, Tare Verification &amp; Real-Time Shrinkage Audit Engine</a:t>
            </a:r>
          </a:p>
          <a:p>
            <a:pPr>
              <a:spcBef>
                <a:spcPts val="1100"/>
              </a:spcBef>
              <a:spcAft>
                <a:spcPts val="200"/>
              </a:spcAft>
              <a:defRPr b="1" sz="1400">
                <a:solidFill>
                  <a:srgbClr val="23456D"/>
                </a:solidFill>
              </a:defRPr>
            </a:pPr>
            <a:r>
              <a:t>•  Theme</a:t>
            </a:r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    Rural development &amp; livelihoods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 Aligned with Govt. of Odisha 100% State-Funded LABHA Scheme &amp; TDCCOL Framework</a:t>
            </a:r>
          </a:p>
          <a:p>
            <a:pPr>
              <a:spcBef>
                <a:spcPts val="1100"/>
              </a:spcBef>
              <a:spcAft>
                <a:spcPts val="200"/>
              </a:spcAft>
              <a:defRPr b="1" sz="1400">
                <a:solidFill>
                  <a:srgbClr val="23456D"/>
                </a:solidFill>
              </a:defRPr>
            </a:pPr>
            <a:r>
              <a:t>•  Team Name (Registered on portal)</a:t>
            </a:r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    PRODERS</a:t>
            </a:r>
          </a:p>
          <a:p>
            <a:pPr>
              <a:spcBef>
                <a:spcPts val="1100"/>
              </a:spcBef>
              <a:spcAft>
                <a:spcPts val="200"/>
              </a:spcAft>
              <a:defRPr b="1" sz="1400">
                <a:solidFill>
                  <a:srgbClr val="23456D"/>
                </a:solidFill>
              </a:defRPr>
            </a:pPr>
            <a:r>
              <a:t>•  Team ID(Registered on portal)</a:t>
            </a:r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    HSC|OR|00037</a:t>
            </a:r>
          </a:p>
          <a:p>
            <a:pPr>
              <a:spcBef>
                <a:spcPts val="1100"/>
              </a:spcBef>
              <a:spcAft>
                <a:spcPts val="200"/>
              </a:spcAft>
              <a:defRPr b="1" sz="1400">
                <a:solidFill>
                  <a:srgbClr val="23456D"/>
                </a:solidFill>
              </a:defRPr>
            </a:pPr>
            <a:r>
              <a:t>•  State/UT</a:t>
            </a:r>
          </a:p>
          <a:p>
            <a:pPr>
              <a:defRPr b="1" sz="1300">
                <a:solidFill>
                  <a:srgbClr val="1E293B"/>
                </a:solidFill>
              </a:defRPr>
            </a:pPr>
            <a:r>
              <a:t>    Odisha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 Ravenshaw University, Cuttack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280160"/>
            <a:ext cx="34747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6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1000"/>
              </a:spcAft>
              <a:defRPr b="1" sz="1600">
                <a:solidFill>
                  <a:srgbClr val="E86033"/>
                </a:solidFill>
              </a:defRPr>
            </a:pPr>
            <a:r>
              <a:t>Live Deployment &amp; Impact</a:t>
            </a:r>
          </a:p>
          <a:p>
            <a:pPr>
              <a:defRPr b="1" sz="1100">
                <a:solidFill>
                  <a:srgbClr val="23456D"/>
                </a:solidFill>
              </a:defRPr>
            </a:pPr>
            <a:r>
              <a:t>🌐 Working Live Prototype:</a:t>
            </a:r>
          </a:p>
          <a:p>
            <a:pPr>
              <a:spcAft>
                <a:spcPts val="800"/>
              </a:spcAft>
              <a:defRPr b="1" sz="1100">
                <a:solidFill>
                  <a:srgbClr val="E86033"/>
                </a:solidFill>
              </a:defRPr>
            </a:pPr>
            <a:r>
              <a:t>    https://samagna.netlify.app</a:t>
            </a:r>
          </a:p>
          <a:p>
            <a:pPr>
              <a:spcBef>
                <a:spcPts val="400"/>
              </a:spcBef>
              <a:defRPr b="1" sz="1200">
                <a:solidFill>
                  <a:srgbClr val="23456D"/>
                </a:solidFill>
              </a:defRPr>
            </a:pPr>
            <a:r>
              <a:t>✦  1.4 Million Gatherers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 Tribal collectors targeted across Mayurbhanj &amp; Similipal</a:t>
            </a:r>
          </a:p>
          <a:p>
            <a:pPr>
              <a:spcBef>
                <a:spcPts val="400"/>
              </a:spcBef>
              <a:defRPr b="1" sz="1200">
                <a:solidFill>
                  <a:srgbClr val="23456D"/>
                </a:solidFill>
              </a:defRPr>
            </a:pPr>
            <a:r>
              <a:t>✦  100% Offline-First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 Dual-DB Dexie IndexedDB architecture for remote forests</a:t>
            </a:r>
          </a:p>
          <a:p>
            <a:pPr>
              <a:spcBef>
                <a:spcPts val="400"/>
              </a:spcBef>
              <a:defRPr b="1" sz="1200">
                <a:solidFill>
                  <a:srgbClr val="23456D"/>
                </a:solidFill>
              </a:defRPr>
            </a:pPr>
            <a:r>
              <a:t>✦  &lt;300 ms Engine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 Automated botanical shrinkage math vs theft isolation</a:t>
            </a:r>
          </a:p>
          <a:p>
            <a:pPr>
              <a:spcBef>
                <a:spcPts val="400"/>
              </a:spcBef>
              <a:defRPr b="1" sz="1200">
                <a:solidFill>
                  <a:srgbClr val="23456D"/>
                </a:solidFill>
              </a:defRPr>
            </a:pPr>
            <a:r>
              <a:t>✦  Zero Leakage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 Guaranteed statutory LABHA MSP &amp; instant receipts</a:t>
            </a:r>
          </a:p>
          <a:p>
            <a:pPr>
              <a:spcBef>
                <a:spcPts val="400"/>
              </a:spcBef>
              <a:defRPr b="1" sz="1200">
                <a:solidFill>
                  <a:srgbClr val="23456D"/>
                </a:solidFill>
              </a:defRPr>
            </a:pPr>
            <a:r>
              <a:t>✦  5 User Roles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 Collector, SHG, Scale Manager, Depot, District 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_img_0_Image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920240" cy="95405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20040"/>
            <a:ext cx="1645920" cy="777240"/>
          </a:xfrm>
          <a:prstGeom prst="roundRect">
            <a:avLst/>
          </a:prstGeom>
          <a:solidFill>
            <a:srgbClr val="FDE2D2"/>
          </a:solidFill>
          <a:ln w="19050">
            <a:solidFill>
              <a:srgbClr val="E86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6033"/>
                </a:solidFill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PRODERS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47472"/>
            <a:ext cx="7132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23456D"/>
                </a:solidFill>
              </a:defRPr>
            </a:pPr>
            <a:r>
              <a:t>Problem –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E293B"/>
                </a:solidFill>
              </a:defRPr>
            </a:pPr>
            <a:r>
              <a:t>Core problem/Proposed Solution (Describe your Concept/Idea/Solution/Prototype)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290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b="1" sz="1300">
                <a:solidFill>
                  <a:srgbClr val="23456D"/>
                </a:solidFill>
              </a:defRPr>
            </a:pPr>
            <a:r>
              <a:t>• Detailed explanation of the proposed solution</a:t>
            </a:r>
          </a:p>
          <a:p>
            <a:pPr>
              <a:spcBef>
                <a:spcPts val="500"/>
              </a:spcBef>
              <a:defRPr b="1" sz="1050">
                <a:solidFill>
                  <a:srgbClr val="1E293B"/>
                </a:solidFill>
              </a:defRPr>
            </a:pPr>
            <a:r>
              <a:t>▪ Offline-First Field Ledger: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Full operational capability in zero-signal Similipal forests via Dexie IndexedDB; automatic idempotent sync upon network resumption.</a:t>
            </a:r>
          </a:p>
          <a:p>
            <a:pPr>
              <a:spcBef>
                <a:spcPts val="500"/>
              </a:spcBef>
              <a:defRPr b="1" sz="1050">
                <a:solidFill>
                  <a:srgbClr val="1E293B"/>
                </a:solidFill>
              </a:defRPr>
            </a:pPr>
            <a:r>
              <a:t>▪ 5-Tier Seamless Chain: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Bridges Primary Gatherer, SHG Facilitator, Village Scale Operator, Central Warehouse Depot, and District Admin.</a:t>
            </a:r>
          </a:p>
          <a:p>
            <a:pPr>
              <a:spcBef>
                <a:spcPts val="500"/>
              </a:spcBef>
              <a:defRPr b="1" sz="1050">
                <a:solidFill>
                  <a:srgbClr val="1E293B"/>
                </a:solidFill>
              </a:defRPr>
            </a:pPr>
            <a:r>
              <a:t>▪ Calibrated Digital Scale Math: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Automated gross - tare = net calculation eliminates manual pen-and-paper deductions.</a:t>
            </a:r>
          </a:p>
          <a:p>
            <a:pPr>
              <a:spcBef>
                <a:spcPts val="500"/>
              </a:spcBef>
              <a:defRPr b="1" sz="1050">
                <a:solidFill>
                  <a:srgbClr val="1E293B"/>
                </a:solidFill>
              </a:defRPr>
            </a:pPr>
            <a:r>
              <a:t>▪ Dual Immutable Artifacts: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Generates A6 waterproof QR sack stencil tags + bilingual Odia/English thermal physical receipts.</a:t>
            </a:r>
          </a:p>
          <a:p>
            <a:pPr>
              <a:spcBef>
                <a:spcPts val="500"/>
              </a:spcBef>
              <a:defRPr b="1" sz="1050">
                <a:solidFill>
                  <a:srgbClr val="1E293B"/>
                </a:solidFill>
              </a:defRPr>
            </a:pPr>
            <a:r>
              <a:t>▪ Live Web Prototype: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Deployed &amp; verified at https://samagna.netlify.app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290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b="1" sz="1300">
                <a:solidFill>
                  <a:srgbClr val="23456D"/>
                </a:solidFill>
              </a:defRPr>
            </a:pPr>
            <a:r>
              <a:t>• How does it address the problem</a:t>
            </a:r>
          </a:p>
          <a:p>
            <a:pPr>
              <a:spcBef>
                <a:spcPts val="500"/>
              </a:spcBef>
              <a:defRPr b="1" sz="1050">
                <a:solidFill>
                  <a:srgbClr val="1E293B"/>
                </a:solidFill>
              </a:defRPr>
            </a:pPr>
            <a:r>
              <a:t>▪ Root Problem: Dual-Ledger Leakage: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Paper slips at villages previously contradicted central depot weighbridges, causing tribal collectors to absorb losses.</a:t>
            </a:r>
          </a:p>
          <a:p>
            <a:pPr>
              <a:spcBef>
                <a:spcPts val="500"/>
              </a:spcBef>
              <a:defRPr b="1" sz="1050">
                <a:solidFill>
                  <a:srgbClr val="1E293B"/>
                </a:solidFill>
              </a:defRPr>
            </a:pPr>
            <a:r>
              <a:t>▪ 300ms Shrinkage Math Engine: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Natural moisture evaporation in 130km transit is calculated against botanical thresholds (default 1.5% absorbed by state LABHA fund).</a:t>
            </a:r>
          </a:p>
          <a:p>
            <a:pPr>
              <a:spcBef>
                <a:spcPts val="500"/>
              </a:spcBef>
              <a:defRPr b="1" sz="1050">
                <a:solidFill>
                  <a:srgbClr val="1E293B"/>
                </a:solidFill>
              </a:defRPr>
            </a:pPr>
            <a:r>
              <a:t>▪ Fair-Trade Guardrail: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Arrival warehouse discrepancies NEVER retroactively alter or reduce the gatherer's certified field receipt.</a:t>
            </a:r>
          </a:p>
          <a:p>
            <a:pPr>
              <a:spcBef>
                <a:spcPts val="500"/>
              </a:spcBef>
              <a:defRPr b="1" sz="1050">
                <a:solidFill>
                  <a:srgbClr val="1E293B"/>
                </a:solidFill>
              </a:defRPr>
            </a:pPr>
            <a:r>
              <a:t>▪ Quarantine Vault bay: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Excess losses (&gt;1.5%) are routed to administrative investigation without holding gatherer DBT payments.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0020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b="1" sz="1300">
                <a:solidFill>
                  <a:srgbClr val="E86033"/>
                </a:solidFill>
              </a:defRPr>
            </a:pPr>
            <a:r>
              <a:t>• Innovation and uniqueness of the solution</a:t>
            </a:r>
          </a:p>
          <a:p>
            <a:pPr>
              <a:spcBef>
                <a:spcPts val="500"/>
              </a:spcBef>
              <a:defRPr b="1" sz="1050">
                <a:solidFill>
                  <a:srgbClr val="23456D"/>
                </a:solidFill>
              </a:defRPr>
            </a:pPr>
            <a:r>
              <a:t>✦ Low-Literacy First Tribal UI: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Zero-typing workflows, authentic botanical photography, native Odia typography (Noto Sans Oriya).</a:t>
            </a:r>
          </a:p>
          <a:p>
            <a:pPr>
              <a:spcBef>
                <a:spcPts val="500"/>
              </a:spcBef>
              <a:defRPr b="1" sz="1050">
                <a:solidFill>
                  <a:srgbClr val="23456D"/>
                </a:solidFill>
              </a:defRPr>
            </a:pPr>
            <a:r>
              <a:t>✦ Audio Speech Rate Card: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Web Speech synthesis ('Listen to Rate' in Odia) empowers non-literate elder forest collectors.</a:t>
            </a:r>
          </a:p>
          <a:p>
            <a:pPr>
              <a:spcBef>
                <a:spcPts val="500"/>
              </a:spcBef>
              <a:defRPr b="1" sz="1050">
                <a:solidFill>
                  <a:srgbClr val="23456D"/>
                </a:solidFill>
              </a:defRPr>
            </a:pPr>
            <a:r>
              <a:t>✦ Non-Accusatory Segregation: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World's first transit shrinkage engine treating moisture evaporation scientifically without penalizing gatherers.</a:t>
            </a:r>
          </a:p>
          <a:p>
            <a:pPr>
              <a:spcBef>
                <a:spcPts val="500"/>
              </a:spcBef>
              <a:defRPr b="1" sz="1050">
                <a:solidFill>
                  <a:srgbClr val="23456D"/>
                </a:solidFill>
              </a:defRPr>
            </a:pPr>
            <a:r>
              <a:t>✦ Public Verifier (/verify/[code]):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Anyone can scan bag QR code to inspect the unbroken cryptographic SHA-256 custody trail tree-to-bank.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_img_0_Image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920240" cy="95405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20040"/>
            <a:ext cx="1645920" cy="777240"/>
          </a:xfrm>
          <a:prstGeom prst="roundRect">
            <a:avLst/>
          </a:prstGeom>
          <a:solidFill>
            <a:srgbClr val="FDE2D2"/>
          </a:solidFill>
          <a:ln w="19050">
            <a:solidFill>
              <a:srgbClr val="E86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6033"/>
                </a:solidFill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PRODERS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47472"/>
            <a:ext cx="7132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23456D"/>
                </a:solidFill>
              </a:defRPr>
            </a:pPr>
            <a: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b="1" sz="1200">
                <a:solidFill>
                  <a:srgbClr val="23456D"/>
                </a:solidFill>
              </a:defRPr>
            </a:pPr>
            <a:r>
              <a:t>• Technologies to be used (languages, frameworks, stack)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▪ Frontend &amp; Edge: Next.js 14 (App Router), TypeScript, Tailwind CSS, Lucide Icons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▪ Offline Storage: Dexie.js v4 (IndexedDB) for 100% offline edge transaction logging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▪ Backend &amp; Auth: Node.js Edge Runtime, JOSE (HMAC-SHA256 JWT in HttpOnly cookies)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▪ Database &amp; ORM: PostgreSQL (Prisma ORM with 15 relational models &amp; migrations)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▪ APIs &amp; Audio: Sliding-Window Rate Limiting, CSP headers, Web Speech Synthesis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12080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b="1" sz="1200">
                <a:solidFill>
                  <a:srgbClr val="23456D"/>
                </a:solidFill>
              </a:defRPr>
            </a:pPr>
            <a:r>
              <a:t>• Methodology and process for implementation (Process Flow)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➔ Step 1: Village Collector / SHG: Odia audio rate check ➔ single-tap pickup request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➔ Step 2: Aggregation Point Scale: Calibrated scale tare deduction ➔ A6 QR tag &amp; thermal receipt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➔ Step 3: Central Depot Reweigh: Reweigh arrival ➔ 300ms moisture tolerance vs quarantine engine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➔ Step 4: District HQ &amp; Verification: Conflict resolution ➔ DBT payment export ➔ Public SHA-256 verifier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➔ Working Prototype Validation: Tested across 24 automated test suites (100% pass: i18n, a11y, auth)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600"/>
              </a:spcAft>
              <a:defRPr b="1" sz="1200">
                <a:solidFill>
                  <a:srgbClr val="23456D"/>
                </a:solidFill>
              </a:defRPr>
            </a:pPr>
            <a:r>
              <a:t>• Github/Gitlab link</a:t>
            </a:r>
          </a:p>
          <a:p>
            <a:pPr>
              <a:defRPr b="1" sz="1000">
                <a:solidFill>
                  <a:srgbClr val="E86033"/>
                </a:solidFill>
              </a:defRPr>
            </a:pPr>
            <a:r>
              <a:t>https://github.com/Rudra4451/Samagna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Complete production codebase: Next.js 14 App Router, Prisma ORM schemas, Dexie offline sync engine, and 24 verification test suites.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6908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400"/>
              </a:spcAft>
              <a:defRPr b="1" sz="1200">
                <a:solidFill>
                  <a:srgbClr val="23456D"/>
                </a:solidFill>
              </a:defRPr>
            </a:pPr>
            <a:r>
              <a:t>• Demo Video</a:t>
            </a:r>
          </a:p>
          <a:p>
            <a:pPr>
              <a:defRPr b="1" sz="950">
                <a:solidFill>
                  <a:srgbClr val="1E293B"/>
                </a:solidFill>
              </a:defRPr>
            </a:pPr>
            <a:r>
              <a:t>📹 Walkthrough Demo Video Link:</a:t>
            </a:r>
          </a:p>
          <a:p>
            <a:pPr>
              <a:defRPr sz="800">
                <a:solidFill>
                  <a:srgbClr val="E86033"/>
                </a:solidFill>
              </a:defRPr>
            </a:pPr>
            <a:r>
              <a:t>https://drive.google.com/file/d/1847Fmx0qJsOU9-rSgFcjvAF8E4dCnnsX/view?usp=sharing</a:t>
            </a:r>
          </a:p>
          <a:p>
            <a:pPr>
              <a:spcBef>
                <a:spcPts val="300"/>
              </a:spcBef>
              <a:defRPr b="1" sz="950">
                <a:solidFill>
                  <a:srgbClr val="1E293B"/>
                </a:solidFill>
              </a:defRPr>
            </a:pPr>
            <a:r>
              <a:t>🌐 Live Interactive Prototype:</a:t>
            </a:r>
          </a:p>
          <a:p>
            <a:pPr>
              <a:defRPr b="1" sz="950">
                <a:solidFill>
                  <a:srgbClr val="23456D"/>
                </a:solidFill>
              </a:defRPr>
            </a:pPr>
            <a:r>
              <a:t>https://samagna.netlify.app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6908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600"/>
              </a:spcAft>
              <a:defRPr b="1" sz="1200">
                <a:solidFill>
                  <a:srgbClr val="E86033"/>
                </a:solidFill>
              </a:defRPr>
            </a:pPr>
            <a:r>
              <a:t>• Extent of usage of AI tools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✦ Web Speech Synthesis: Regional Odia voice narration for non-literate gatherers.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✦ Lexical Alignment: LLM-assisted verification of 17 botanical species in Odia &amp; Santhali.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✦ Automated Edge Fuzzing: AI-generated test cases for transit moisture loss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_img_0_Image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920240" cy="95405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20040"/>
            <a:ext cx="1645920" cy="777240"/>
          </a:xfrm>
          <a:prstGeom prst="roundRect">
            <a:avLst/>
          </a:prstGeom>
          <a:solidFill>
            <a:srgbClr val="FDE2D2"/>
          </a:solidFill>
          <a:ln w="19050">
            <a:solidFill>
              <a:srgbClr val="E86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6033"/>
                </a:solidFill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PRODERS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47472"/>
            <a:ext cx="7132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23456D"/>
                </a:solidFill>
              </a:defRPr>
            </a:pPr>
            <a:r>
              <a:t>Impact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b="1" sz="1300">
                <a:solidFill>
                  <a:srgbClr val="23456D"/>
                </a:solidFill>
              </a:defRPr>
            </a:pPr>
            <a:r>
              <a:t>• Potential impact on the target audience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▪ 1.4M Tribal Gatherers Safeguarded: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Protects Santhal, Ho, and Kolha forest dwellers across Mayurbhanj &amp; Similipal Biosphere Reserve.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▪ Eliminating Income Leakage: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Eradicates arbitrary 8%–14% middleman tare and transit cuts, preserving ₹2,400 to ₹4,800 annually per tribal household.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▪ Zero Delayed Settlements: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Replaces 30-day paper settlement delays with instant digital receipts and fast Direct Benefit Transfer (DBT).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▪ Dignified Trade Transparency: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Zero-typing Odia interface and audio playback eliminate reliance on exploitative middlemen.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2900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b="1" sz="1300">
                <a:solidFill>
                  <a:srgbClr val="23456D"/>
                </a:solidFill>
              </a:defRPr>
            </a:pPr>
            <a:r>
              <a:t>• Benefits of the solution (social, economic, etc.)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▪ Economic (LABHA Scheme MSP):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Ensures 100% compliance with Odisha's statutory minimum support prices with automated tare scale math.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▪ Social &amp; Women Empowerment: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Empowers Women Self-Help Groups (Mahila Mandals) as village collection leaders with legitimate commission logs.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▪ Financial Inclusion: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Onboards unbanked forest dwellers to institutional state banking via DBT payment reference exports.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▪ Forest Ecological Governance: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Immutable QR bag stencils prevent illegal logging and unregulated smuggling of endangered forest species.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b="1" sz="1300">
                <a:solidFill>
                  <a:srgbClr val="E86033"/>
                </a:solidFill>
              </a:defRPr>
            </a:pPr>
            <a:r>
              <a:t>• Stakeholders</a:t>
            </a:r>
          </a:p>
          <a:p>
            <a:pPr>
              <a:spcBef>
                <a:spcPts val="600"/>
              </a:spcBef>
              <a:defRPr b="1" sz="1050">
                <a:solidFill>
                  <a:srgbClr val="23456D"/>
                </a:solidFill>
              </a:defRPr>
            </a:pPr>
            <a:r>
              <a:t>✦ Primary Tribal Gatherers: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1.4 million forest collectors harvesting Mahua flowers, Sal seeds, Wild Honey, Kendu leaves, and Kusum across Mayurbhanj.</a:t>
            </a:r>
          </a:p>
          <a:p>
            <a:pPr>
              <a:spcBef>
                <a:spcPts val="600"/>
              </a:spcBef>
              <a:defRPr b="1" sz="1050">
                <a:solidFill>
                  <a:srgbClr val="23456D"/>
                </a:solidFill>
              </a:defRPr>
            </a:pPr>
            <a:r>
              <a:t>✦ Women Self-Help Groups (SHGs):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Village-level aggregators (e.g. Badagaon Mahila Mandal) representing collective community bargaining.</a:t>
            </a:r>
          </a:p>
          <a:p>
            <a:pPr>
              <a:spcBef>
                <a:spcPts val="600"/>
              </a:spcBef>
              <a:defRPr b="1" sz="1050">
                <a:solidFill>
                  <a:srgbClr val="23456D"/>
                </a:solidFill>
              </a:defRPr>
            </a:pPr>
            <a:r>
              <a:t>✦ Collection Center Scale Managers: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Operate village digital scales with transparent tare deduction &amp; instant receipt generation.</a:t>
            </a:r>
          </a:p>
          <a:p>
            <a:pPr>
              <a:spcBef>
                <a:spcPts val="600"/>
              </a:spcBef>
              <a:defRPr b="1" sz="1050">
                <a:solidFill>
                  <a:srgbClr val="23456D"/>
                </a:solidFill>
              </a:defRPr>
            </a:pPr>
            <a:r>
              <a:t>✦ Central Depot Warehouse Managers: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Logistics managers overseeing inward truck weighments and shrinkage verification.</a:t>
            </a:r>
          </a:p>
          <a:p>
            <a:pPr>
              <a:spcBef>
                <a:spcPts val="600"/>
              </a:spcBef>
              <a:defRPr b="1" sz="1050">
                <a:solidFill>
                  <a:srgbClr val="23456D"/>
                </a:solidFill>
              </a:defRPr>
            </a:pPr>
            <a:r>
              <a:t>✦ State Administration (TDCCOL):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Mayurbhanj District Collector &amp; Procurement Officers governing circulars, audits &amp; DBT disbursements.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_img_0_Image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920240" cy="95405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20040"/>
            <a:ext cx="1645920" cy="777240"/>
          </a:xfrm>
          <a:prstGeom prst="roundRect">
            <a:avLst/>
          </a:prstGeom>
          <a:solidFill>
            <a:srgbClr val="FDE2D2"/>
          </a:solidFill>
          <a:ln w="19050">
            <a:solidFill>
              <a:srgbClr val="E86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6033"/>
                </a:solidFill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PRODERS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47472"/>
            <a:ext cx="7132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23456D"/>
                </a:solidFill>
              </a:defRPr>
            </a:pPr>
            <a:r>
              <a:t>Feasibility and Risk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600"/>
              </a:spcAft>
              <a:defRPr b="1" sz="1300">
                <a:solidFill>
                  <a:srgbClr val="23456D"/>
                </a:solidFill>
              </a:defRPr>
            </a:pPr>
            <a:r>
              <a:t>• Analysis of the feasibility of the solution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▪ Zero Hardware Capex: Runs on standard entry-level Android smartphones and tablets already distributed to SHG facilitators and Panchayat secretaries under state digitisation drives.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▪ 100% Operational In Deep Forest: Dual-database architecture (Dexie IndexedDB) ensures scale operators and collectors can record weighments and issue receipts with zero network coverage.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▪ Strict Policy &amp; Legal Compliance: Engineered to map directly to Odisha Government's 100% state-funded LABHA Yojana statutory price circulars and TDCCOL procurement protocols.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21208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B91C1C"/>
                </a:solidFill>
              </a:defRPr>
            </a:pPr>
            <a:r>
              <a:t>• Potential challenges and risks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⚠ Zero Cellular Connectivity: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Interior Similipal biosphere hamlets can be offline for days or weeks during peak monsoon.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⚠ Digital Literacy Gap: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Non-literate elder tribal collectors unfamiliar with mobile touchscreens and complex forms.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⚠ Rugged Field Environment: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Smartphones exposed to forest rain, dust, and physical drops at village aggregation scales.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⚠ Physical Scale Miscalibration: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Mechanical or electronic weighing scale tampering by local middlemen or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383280"/>
            <a:ext cx="521208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10783C"/>
                </a:solidFill>
              </a:defRPr>
            </a:pPr>
            <a:r>
              <a:t>• Strategies for overcoming these challenges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✔ Durable Offline Outbox: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Dexie IndexedDB queues transactions locally with cryptographic idempotency keys; auto-syncs when online.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✔ Odia Web Speech &amp; Zero-Typing: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Audio readouts ('Listen to Rate'), authentic botanical photos, and single-tap Odia interfaces.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✔ Dual Physical-Digital Artifacts: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Durable A6 waterproof QR sack stencil tags + thermal receipts provide tamper-proof physical custody.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✔ Daily Calibration Protocol: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Mandatory scale zero-point verification and tare deduction algorithm built directly into the 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_img_0_Image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920240" cy="95405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20040"/>
            <a:ext cx="1645920" cy="777240"/>
          </a:xfrm>
          <a:prstGeom prst="roundRect">
            <a:avLst/>
          </a:prstGeom>
          <a:solidFill>
            <a:srgbClr val="FDE2D2"/>
          </a:solidFill>
          <a:ln w="19050">
            <a:solidFill>
              <a:srgbClr val="E86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6033"/>
                </a:solidFill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PRODERS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47472"/>
            <a:ext cx="7132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23456D"/>
                </a:solidFill>
              </a:defRPr>
            </a:pPr>
            <a: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E293B"/>
                </a:solidFill>
              </a:defRPr>
            </a:pPr>
            <a:r>
              <a:t>Team Composition (Team PRODERS · Ravenshaw University, Cuttack · Team ID: HSC|OR|00037)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72865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spcAft>
                <a:spcPts val="600"/>
              </a:spcAft>
              <a:defRPr b="1" sz="1300">
                <a:solidFill>
                  <a:srgbClr val="23456D"/>
                </a:solidFill>
              </a:defRPr>
            </a:pPr>
            <a:r>
              <a:t>• Roles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👤 Rudra Pratap Swain (Team Lead): </a:t>
            </a:r>
            <a:r>
              <a:rPr b="1">
                <a:solidFill>
                  <a:srgbClr val="E86033"/>
                </a:solidFill>
              </a:rPr>
              <a:t>[UI/UX &amp; System Architect] </a:t>
            </a:r>
            <a:r>
              <a:rPr sz="950">
                <a:solidFill>
                  <a:srgbClr val="1E293B"/>
                </a:solidFill>
              </a:rPr>
              <a:t>— Overall system architecture, design identity (editorial linework, Noto Sans Oriya typography), dual-database offline sync protocol, Prisma ORM schemas, and JWT/RBAC security.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👤 Prince Kumar Meher (Member 1): </a:t>
            </a:r>
            <a:r>
              <a:rPr b="1">
                <a:solidFill>
                  <a:srgbClr val="E86033"/>
                </a:solidFill>
              </a:rPr>
              <a:t>[Frontend &amp; Research] </a:t>
            </a:r>
            <a:r>
              <a:rPr sz="950">
                <a:solidFill>
                  <a:srgbClr val="1E293B"/>
                </a:solidFill>
              </a:rPr>
              <a:t>— Next.js 14 client interfaces, Web Speech API Odia rate narration, digital scale tare calculators, and field research on Odisha LABHA scheme operational guidelines.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👤 Dikshyant Ranjan Behera (Member 2): </a:t>
            </a:r>
            <a:r>
              <a:rPr b="1">
                <a:solidFill>
                  <a:srgbClr val="E86033"/>
                </a:solidFill>
              </a:rPr>
              <a:t>[Deploy &amp; Testing] </a:t>
            </a:r>
            <a:r>
              <a:rPr sz="950">
                <a:solidFill>
                  <a:srgbClr val="1E293B"/>
                </a:solidFill>
              </a:rPr>
              <a:t>— Cloud &amp; container deployment pipelines, automated test harness execution (24 test suites: i18n, a11y, scale math, transit shrinkage), and continuous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2120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23456D"/>
                </a:solidFill>
              </a:defRPr>
            </a:pPr>
            <a:r>
              <a:t>• Challenges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▪ Asynchronous Offline Synchronization: Preventing race conditions and deduplicating in-flight weighments without double-crediting tribal collectors upon reconnection.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▪ Botanical Shrinkage Formulation: Deriving scientific moisture evaporation tolerances for 17 forest produce species to separate natural loss from transit pilferage.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▪ Zero-Friction Low-Literacy UX: Building an interface that non-literate forest dwellers can effortlessly navigate while maintaining rigorous cryptographic audit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21208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E86033"/>
                </a:solidFill>
              </a:defRPr>
            </a:pPr>
            <a:r>
              <a:t>• Any other that the team would like to share about their journey.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✦ Rooted in Odisha's Heartland: Hailing from Cuttack, Kalahandi, and Sundargarh, our team has firsthand proximity to the struggles of tribal forest gatherers facing arbitrary weight deductions.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✦ From Hackathon Idea to Public Good: We engineered BanaSetu not as a theoretical presentation, but as a fully tested, production-grade system ready for pilot deployment across Mayurbhanj's aggregation centers.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✦ Core Vision: 'Connecting Forest Stewards with Economic Dignity' — Ensuring that every flower, seed, and gram harvested under the scorching sun receives fair, transparent, and prompt compensation.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_img_0_Image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920240" cy="95405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20040"/>
            <a:ext cx="1645920" cy="777240"/>
          </a:xfrm>
          <a:prstGeom prst="roundRect">
            <a:avLst/>
          </a:prstGeom>
          <a:solidFill>
            <a:srgbClr val="FDE2D2"/>
          </a:solidFill>
          <a:ln w="19050">
            <a:solidFill>
              <a:srgbClr val="E86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6033"/>
                </a:solidFill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PRODERS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47472"/>
            <a:ext cx="7132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23456D"/>
                </a:solidFill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spcAft>
                <a:spcPts val="800"/>
              </a:spcAft>
              <a:defRPr b="1" sz="1400">
                <a:solidFill>
                  <a:srgbClr val="23456D"/>
                </a:solidFill>
              </a:defRPr>
            </a:pPr>
            <a:r>
              <a:t>• Details / Links of the reference and research work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00">
                <a:solidFill>
                  <a:srgbClr val="E86033"/>
                </a:solidFill>
              </a:defRPr>
            </a:pPr>
            <a:r>
              <a:t>▪  1. Government Schemes &amp; Institutional Policy Frameworks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 • Tribal Development Cooperative Corporation of Odisha Ltd. (TDCCOL) — Minor Forest Produce Procurement Schedules, Seasonal Guidelines &amp; Minimum Support Price Circulars (2024).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 • Scheduled Tribes &amp; Scheduled Castes Development Department, Government of Odisha — 100% State-Funded LABHA Scheme (Laghu Bana Jatiya Dradya Kraya) Operational Guidelines.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 • Ministry of Tribal Affairs (MoTA), Government of India — Mechanism for Marketing of Minor Forest Produce (MFP) through Minimum Support Price (MSP) &amp; Value Chain Development Scheme.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00">
                <a:solidFill>
                  <a:srgbClr val="E86033"/>
                </a:solidFill>
              </a:defRPr>
            </a:pPr>
            <a:r>
              <a:t>▪  2. Technical &amp; Academic Research Standards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 • Kleppmann, M., Wiggins, A., van Hardenberg, P., &amp; Tratt, L. (2019) — 'Local-First Software: You own your data, in spite of the cloud', IEEE / ACM SPLASH Onward! Proceedings.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 • World Wide Web Consortium (W3C) — Web Content Accessibility Guidelines (WCAG) 2.1 AA Specification &amp; Speech Interaction Standards for Low-Literacy Populations.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 • IETF RFC 7519 — JSON Web Token (JWT) Standard &amp; Universally Unique Lexicographically Sortable Identifier (ULID) Specification.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00">
                <a:solidFill>
                  <a:srgbClr val="E86033"/>
                </a:solidFill>
              </a:defRPr>
            </a:pPr>
            <a:r>
              <a:t>▪  3. Project Codebase &amp; Public Verification Artifacts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 • Source Code Repository: https://github.com/Rudra4451/Samagna (Next.js 14, Prisma ORM, Dexie IndexedDB, 24 Automated Test Suites).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 • Live Web Prototype: https://samagna.netlify.app | Demo Walkthrough: https://drive.google.com/file/d/1847Fmx0qJsOU9-rSgFcjvAF8E4dCnnsX/view?usp=sharing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 • Public Traceability Ledger Verifier: Verified endpoint (/verify/[code]) demonstrating SHA-256 cryptographic chain of custody.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